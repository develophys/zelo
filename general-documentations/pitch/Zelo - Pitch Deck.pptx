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3c379a8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3c379a8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c379a80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3c379a80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3c379a80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3c379a80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c40ddf9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3c40ddf9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3c379a80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3c379a80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3c379a80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3c379a80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8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hutterstock_2485563305.jpg"/>
          <p:cNvPicPr preferRelativeResize="0"/>
          <p:nvPr/>
        </p:nvPicPr>
        <p:blipFill rotWithShape="1">
          <a:blip r:embed="rId3">
            <a:alphaModFix/>
          </a:blip>
          <a:srcRect b="0" l="12902" r="15182" t="38838"/>
          <a:stretch/>
        </p:blipFill>
        <p:spPr>
          <a:xfrm>
            <a:off x="0" y="-23600"/>
            <a:ext cx="9143997" cy="5190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-23550"/>
            <a:ext cx="9144000" cy="5190600"/>
          </a:xfrm>
          <a:prstGeom prst="rect">
            <a:avLst/>
          </a:prstGeom>
          <a:solidFill>
            <a:srgbClr val="2F6B5E">
              <a:alpha val="94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15700" y="1792750"/>
            <a:ext cx="87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8FAF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Todo cuidado começa com confiança. </a:t>
            </a:r>
            <a:endParaRPr sz="3000">
              <a:solidFill>
                <a:srgbClr val="F8FAF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15700" y="2439250"/>
            <a:ext cx="87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F8FA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Uma plataforma confidencial para acolhimento e suporte à saúde mental do médico.</a:t>
            </a:r>
            <a:endParaRPr>
              <a:solidFill>
                <a:srgbClr val="F8FAF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8" name="Google Shape;58;p13" title="Identidade Visual do App Zelo (3).png"/>
          <p:cNvPicPr preferRelativeResize="0"/>
          <p:nvPr/>
        </p:nvPicPr>
        <p:blipFill rotWithShape="1">
          <a:blip r:embed="rId4">
            <a:alphaModFix/>
          </a:blip>
          <a:srcRect b="34322" l="0" r="0" t="33472"/>
          <a:stretch/>
        </p:blipFill>
        <p:spPr>
          <a:xfrm>
            <a:off x="3237238" y="3666700"/>
            <a:ext cx="2669525" cy="8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7175" y="335450"/>
            <a:ext cx="306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20">
                <a:solidFill>
                  <a:srgbClr val="2F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problema</a:t>
            </a:r>
            <a:endParaRPr sz="3320">
              <a:solidFill>
                <a:srgbClr val="2F2F2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564600" y="1196613"/>
            <a:ext cx="3869100" cy="9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Hoje, muitos médicos </a:t>
            </a:r>
            <a:r>
              <a:rPr b="1"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escolhem o silêncio.</a:t>
            </a:r>
            <a:r>
              <a:rPr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8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O problema é a falta de um</a:t>
            </a:r>
            <a:r>
              <a:rPr b="1"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 lugar seguro</a:t>
            </a:r>
            <a:r>
              <a:rPr lang="pt-BR" sz="128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 para pedir ajuda. </a:t>
            </a:r>
            <a:endParaRPr sz="128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" name="Google Shape;65;p14" title="shutterstock_2680659061.jpg"/>
          <p:cNvPicPr preferRelativeResize="0"/>
          <p:nvPr/>
        </p:nvPicPr>
        <p:blipFill rotWithShape="1">
          <a:blip r:embed="rId3">
            <a:alphaModFix/>
          </a:blip>
          <a:srcRect b="12613" l="13444" r="27461" t="6794"/>
          <a:stretch/>
        </p:blipFill>
        <p:spPr>
          <a:xfrm>
            <a:off x="5015375" y="956400"/>
            <a:ext cx="3551700" cy="3230700"/>
          </a:xfrm>
          <a:prstGeom prst="roundRect">
            <a:avLst>
              <a:gd fmla="val 6170" name="adj"/>
            </a:avLst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564600" y="2306200"/>
            <a:ext cx="3675300" cy="762300"/>
          </a:xfrm>
          <a:prstGeom prst="roundRect">
            <a:avLst>
              <a:gd fmla="val 13444" name="adj"/>
            </a:avLst>
          </a:prstGeom>
          <a:solidFill>
            <a:srgbClr val="2F6B5E"/>
          </a:solidFill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3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778500" y="2392000"/>
            <a:ext cx="3247500" cy="590700"/>
          </a:xfrm>
          <a:prstGeom prst="rect">
            <a:avLst/>
          </a:prstGeom>
        </p:spPr>
        <p:txBody>
          <a:bodyPr anchorCtr="0" anchor="ctr" bIns="85075" lIns="85075" spcFirstLastPara="1" rIns="85075" wrap="square" tIns="85075">
            <a:normAutofit fontScale="8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117"/>
              </a:spcAft>
              <a:buNone/>
            </a:pPr>
            <a:r>
              <a:rPr b="1" lang="pt-BR" sz="158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 em cada 10 médicos </a:t>
            </a:r>
            <a:r>
              <a:rPr lang="pt-BR" sz="158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relatam algum problema de saúde mental </a:t>
            </a:r>
            <a:endParaRPr sz="158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564600" y="3475450"/>
            <a:ext cx="3551700" cy="12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Esse </a:t>
            </a:r>
            <a:r>
              <a:rPr b="1"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silêncio </a:t>
            </a: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tem um custo.</a:t>
            </a:r>
            <a:endParaRPr sz="13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2F2F2F"/>
              </a:buClr>
              <a:buSzPts val="1350"/>
              <a:buFont typeface="Montserrat"/>
              <a:buChar char="●"/>
            </a:pP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Erros clínicos evitáveis;</a:t>
            </a:r>
            <a:endParaRPr sz="13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350"/>
              <a:buFont typeface="Montserrat"/>
              <a:buChar char="●"/>
            </a:pP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Afastamento da profissão;</a:t>
            </a:r>
            <a:endParaRPr sz="13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350"/>
              <a:buFont typeface="Montserrat"/>
              <a:buChar char="●"/>
            </a:pP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Risco aumentado de suicídio.</a:t>
            </a:r>
            <a:endParaRPr sz="13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6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" name="Google Shape;69;p14" title="Identidade Visual do App Ze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4850" y="4509625"/>
            <a:ext cx="507450" cy="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26400" y="3052562"/>
            <a:ext cx="3551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6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6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Pesquisa “Qualidade de Vida do Médico 2024” - Research Center Afya</a:t>
            </a:r>
            <a:r>
              <a:rPr lang="pt-BR" sz="6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shutterstock_2485563305.jpg"/>
          <p:cNvPicPr preferRelativeResize="0"/>
          <p:nvPr/>
        </p:nvPicPr>
        <p:blipFill rotWithShape="1">
          <a:blip r:embed="rId3">
            <a:alphaModFix/>
          </a:blip>
          <a:srcRect b="48404" l="37358" r="9402" t="763"/>
          <a:stretch/>
        </p:blipFill>
        <p:spPr>
          <a:xfrm>
            <a:off x="477325" y="805749"/>
            <a:ext cx="3551700" cy="2263500"/>
          </a:xfrm>
          <a:prstGeom prst="roundRect">
            <a:avLst>
              <a:gd fmla="val 6170" name="adj"/>
            </a:avLst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401462" y="333788"/>
            <a:ext cx="306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20">
                <a:solidFill>
                  <a:srgbClr val="2F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Dr. João</a:t>
            </a:r>
            <a:endParaRPr sz="3320">
              <a:solidFill>
                <a:srgbClr val="2F2F2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7" name="Google Shape;77;p15" title="Identidade Visual do App Ze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4850" y="4509625"/>
            <a:ext cx="507450" cy="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77325" y="3222675"/>
            <a:ext cx="38469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Depois de semanas de plantões consecutivos, o Dr. João percebe que algo não está bem.</a:t>
            </a:r>
            <a:endParaRPr b="1" sz="110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Mas, como muitos médicos, ele tem receio de buscar ajuda por medo de exposição.</a:t>
            </a:r>
            <a:endParaRPr sz="110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Pela primeira vez, ele encontra um lugar onde pode fazer isso com segurança.</a:t>
            </a:r>
            <a:endParaRPr b="1" sz="110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8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5" title="zelo_ani_01_1.gif"/>
          <p:cNvPicPr preferRelativeResize="0"/>
          <p:nvPr/>
        </p:nvPicPr>
        <p:blipFill rotWithShape="1">
          <a:blip r:embed="rId5">
            <a:alphaModFix/>
          </a:blip>
          <a:srcRect b="720" l="0" r="0" t="710"/>
          <a:stretch/>
        </p:blipFill>
        <p:spPr>
          <a:xfrm>
            <a:off x="5880549" y="393750"/>
            <a:ext cx="1987200" cy="4320000"/>
          </a:xfrm>
          <a:prstGeom prst="roundRect">
            <a:avLst>
              <a:gd fmla="val 7393" name="adj"/>
            </a:avLst>
          </a:prstGeom>
          <a:noFill/>
          <a:ln>
            <a:noFill/>
          </a:ln>
          <a:effectLst>
            <a:outerShdw blurRad="142875" rotWithShape="0" algn="bl" dist="2857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26725" y="2833300"/>
            <a:ext cx="49932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pt-BR" sz="13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Autoavaliação </a:t>
            </a:r>
            <a:r>
              <a:rPr b="1" lang="pt-BR" sz="1300">
                <a:solidFill>
                  <a:srgbClr val="2F2F2F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➝ </a:t>
            </a:r>
            <a:r>
              <a:rPr lang="pt-BR" sz="13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Resultado </a:t>
            </a:r>
            <a:r>
              <a:rPr b="1" lang="pt-BR" sz="1300">
                <a:solidFill>
                  <a:srgbClr val="2F2F2F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➝ </a:t>
            </a:r>
            <a:r>
              <a:rPr lang="pt-BR" sz="13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IA </a:t>
            </a:r>
            <a:r>
              <a:rPr b="1" lang="pt-BR" sz="1300">
                <a:solidFill>
                  <a:srgbClr val="2F2F2F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➝ </a:t>
            </a:r>
            <a:r>
              <a:rPr lang="pt-BR" sz="130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Encaminhamento</a:t>
            </a:r>
            <a:endParaRPr b="1" sz="130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426725" y="1062025"/>
            <a:ext cx="4007100" cy="16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20">
                <a:solidFill>
                  <a:srgbClr val="2F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primeiro passo não deveria ser o mais difícil. </a:t>
            </a:r>
            <a:endParaRPr sz="3320">
              <a:solidFill>
                <a:srgbClr val="2F2F2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6" name="Google Shape;86;p16" title="Identidade Visual do App Ze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4850" y="4509625"/>
            <a:ext cx="507450" cy="5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zelo_ani_02_1.gif"/>
          <p:cNvPicPr preferRelativeResize="0"/>
          <p:nvPr/>
        </p:nvPicPr>
        <p:blipFill rotWithShape="1">
          <a:blip r:embed="rId4">
            <a:alphaModFix/>
          </a:blip>
          <a:srcRect b="768" l="0" r="0" t="778"/>
          <a:stretch/>
        </p:blipFill>
        <p:spPr>
          <a:xfrm>
            <a:off x="5878800" y="392400"/>
            <a:ext cx="1989600" cy="4320000"/>
          </a:xfrm>
          <a:prstGeom prst="roundRect">
            <a:avLst>
              <a:gd fmla="val 8527" name="adj"/>
            </a:avLst>
          </a:prstGeom>
          <a:noFill/>
          <a:ln>
            <a:noFill/>
          </a:ln>
          <a:effectLst>
            <a:outerShdw blurRad="142875" rotWithShape="0" algn="bl" dist="2857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 title="Identidade Visual do App Ze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4850" y="4509625"/>
            <a:ext cx="507450" cy="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635175" y="1885675"/>
            <a:ext cx="3127500" cy="634800"/>
          </a:xfrm>
          <a:prstGeom prst="roundRect">
            <a:avLst>
              <a:gd fmla="val 13444" name="adj"/>
            </a:avLst>
          </a:prstGeom>
          <a:solidFill>
            <a:srgbClr val="2F6B5E"/>
          </a:solidFill>
          <a:ln>
            <a:noFill/>
          </a:ln>
        </p:spPr>
        <p:txBody>
          <a:bodyPr anchorCtr="0" anchor="ctr" bIns="69625" lIns="69625" spcFirstLastPara="1" rIns="69625" wrap="square" tIns="6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685750" y="1942854"/>
            <a:ext cx="19194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14"/>
              </a:spcAft>
              <a:buNone/>
            </a:pPr>
            <a:r>
              <a:rPr lang="pt-BR" sz="1066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Privacidade por padrão</a:t>
            </a:r>
            <a:endParaRPr sz="1066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85750" y="2160417"/>
            <a:ext cx="29631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"/>
              <a:buFont typeface="Arial"/>
              <a:buNone/>
            </a:pPr>
            <a:r>
              <a:rPr lang="pt-BR" sz="9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Identidade protegida desde o primeiro acesso.</a:t>
            </a:r>
            <a:endParaRPr sz="94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914"/>
              </a:spcBef>
              <a:spcAft>
                <a:spcPts val="914"/>
              </a:spcAft>
              <a:buSzPts val="234"/>
              <a:buNone/>
            </a:pPr>
            <a:r>
              <a:t/>
            </a:r>
            <a:endParaRPr sz="26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35175" y="2619700"/>
            <a:ext cx="3127500" cy="634800"/>
          </a:xfrm>
          <a:prstGeom prst="roundRect">
            <a:avLst>
              <a:gd fmla="val 13444" name="adj"/>
            </a:avLst>
          </a:prstGeom>
          <a:solidFill>
            <a:srgbClr val="2F6B5E"/>
          </a:solidFill>
          <a:ln>
            <a:noFill/>
          </a:ln>
        </p:spPr>
        <p:txBody>
          <a:bodyPr anchorCtr="0" anchor="ctr" bIns="69625" lIns="69625" spcFirstLastPara="1" rIns="69625" wrap="square" tIns="6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685750" y="2626304"/>
            <a:ext cx="19194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14"/>
              </a:spcAft>
              <a:buNone/>
            </a:pPr>
            <a:r>
              <a:rPr lang="pt-BR" sz="1066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Controle do usuário</a:t>
            </a:r>
            <a:endParaRPr sz="1066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685750" y="2835429"/>
            <a:ext cx="29631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 decide quando e com quem compartilhar informações.</a:t>
            </a:r>
            <a:endParaRPr sz="94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91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4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914"/>
              </a:spcBef>
              <a:spcAft>
                <a:spcPts val="0"/>
              </a:spcAft>
              <a:buSzPts val="234"/>
              <a:buNone/>
            </a:pPr>
            <a:r>
              <a:t/>
            </a:r>
            <a:endParaRPr sz="94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914"/>
              </a:spcBef>
              <a:spcAft>
                <a:spcPts val="914"/>
              </a:spcAft>
              <a:buSzPts val="234"/>
              <a:buNone/>
            </a:pPr>
            <a:r>
              <a:t/>
            </a:r>
            <a:endParaRPr sz="26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35175" y="3353725"/>
            <a:ext cx="3127500" cy="634800"/>
          </a:xfrm>
          <a:prstGeom prst="roundRect">
            <a:avLst>
              <a:gd fmla="val 13444" name="adj"/>
            </a:avLst>
          </a:prstGeom>
          <a:solidFill>
            <a:srgbClr val="2F6B5E"/>
          </a:solidFill>
          <a:ln>
            <a:noFill/>
          </a:ln>
        </p:spPr>
        <p:txBody>
          <a:bodyPr anchorCtr="0" anchor="ctr" bIns="69625" lIns="69625" spcFirstLastPara="1" rIns="69625" wrap="square" tIns="6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677321" y="3402475"/>
            <a:ext cx="19194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14"/>
              </a:spcAft>
              <a:buNone/>
            </a:pPr>
            <a:r>
              <a:rPr lang="pt-BR" sz="1066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Gestão sem exposição</a:t>
            </a:r>
            <a:endParaRPr sz="1066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677321" y="3645321"/>
            <a:ext cx="3127500" cy="329100"/>
          </a:xfrm>
          <a:prstGeom prst="rect">
            <a:avLst/>
          </a:prstGeom>
        </p:spPr>
        <p:txBody>
          <a:bodyPr anchorCtr="0" anchor="t" bIns="69625" lIns="69625" spcFirstLastPara="1" rIns="69625" wrap="square" tIns="696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4"/>
              <a:buNone/>
            </a:pPr>
            <a:r>
              <a:rPr lang="pt-BR" sz="9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Instituições visualizam apenas dados agregados.</a:t>
            </a:r>
            <a:endParaRPr sz="94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914"/>
              </a:spcBef>
              <a:spcAft>
                <a:spcPts val="914"/>
              </a:spcAft>
              <a:buSzPts val="234"/>
              <a:buNone/>
            </a:pPr>
            <a:r>
              <a:t/>
            </a:r>
            <a:endParaRPr sz="26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 txBox="1"/>
          <p:nvPr>
            <p:ph type="title"/>
          </p:nvPr>
        </p:nvSpPr>
        <p:spPr>
          <a:xfrm>
            <a:off x="635175" y="740675"/>
            <a:ext cx="3621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620">
                <a:solidFill>
                  <a:srgbClr val="2F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confiança nasce da privacidade. </a:t>
            </a:r>
            <a:endParaRPr sz="2620">
              <a:solidFill>
                <a:srgbClr val="2F2F2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3" name="Google Shape;103;p17" title="zelo_ani_03.gif"/>
          <p:cNvPicPr preferRelativeResize="0"/>
          <p:nvPr/>
        </p:nvPicPr>
        <p:blipFill rotWithShape="1">
          <a:blip r:embed="rId4">
            <a:alphaModFix/>
          </a:blip>
          <a:srcRect b="0" l="20" r="30" t="0"/>
          <a:stretch/>
        </p:blipFill>
        <p:spPr>
          <a:xfrm>
            <a:off x="5878800" y="392400"/>
            <a:ext cx="1989600" cy="4320000"/>
          </a:xfrm>
          <a:prstGeom prst="roundRect">
            <a:avLst>
              <a:gd fmla="val 8527" name="adj"/>
            </a:avLst>
          </a:prstGeom>
          <a:noFill/>
          <a:ln>
            <a:noFill/>
          </a:ln>
          <a:effectLst>
            <a:outerShdw blurRad="142875" rotWithShape="0" algn="bl" dist="2857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 title="shutterstock_2545848849.jpg"/>
          <p:cNvPicPr preferRelativeResize="0"/>
          <p:nvPr/>
        </p:nvPicPr>
        <p:blipFill rotWithShape="1">
          <a:blip r:embed="rId3">
            <a:alphaModFix/>
          </a:blip>
          <a:srcRect b="0" l="5869" r="5869" t="0"/>
          <a:stretch/>
        </p:blipFill>
        <p:spPr>
          <a:xfrm>
            <a:off x="477363" y="1425324"/>
            <a:ext cx="3551700" cy="2263500"/>
          </a:xfrm>
          <a:prstGeom prst="roundRect">
            <a:avLst>
              <a:gd fmla="val 6170" name="adj"/>
            </a:avLst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type="title"/>
          </p:nvPr>
        </p:nvSpPr>
        <p:spPr>
          <a:xfrm>
            <a:off x="426725" y="392400"/>
            <a:ext cx="36024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920">
                <a:solidFill>
                  <a:srgbClr val="2F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Visibilidade para cuidar melhor</a:t>
            </a:r>
            <a:endParaRPr sz="2920">
              <a:solidFill>
                <a:srgbClr val="2F2F2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0" name="Google Shape;110;p18" title="Identidade Visual do App Ze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4850" y="4509625"/>
            <a:ext cx="507450" cy="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93008" y="3752754"/>
            <a:ext cx="41082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Gestores têm </a:t>
            </a:r>
            <a:r>
              <a:rPr b="1"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acesso </a:t>
            </a: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a indicadores coletivos de saúde mental para </a:t>
            </a:r>
            <a:r>
              <a:rPr b="1"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identificar tendências</a:t>
            </a:r>
            <a:r>
              <a:rPr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350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criar ações preventivas. </a:t>
            </a:r>
            <a:endParaRPr b="1" sz="1650">
              <a:solidFill>
                <a:srgbClr val="2F2F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8" title="zelo_ani_04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8800" y="392400"/>
            <a:ext cx="2130000" cy="4320000"/>
          </a:xfrm>
          <a:prstGeom prst="roundRect">
            <a:avLst>
              <a:gd fmla="val 6779" name="adj"/>
            </a:avLst>
          </a:prstGeom>
          <a:noFill/>
          <a:ln>
            <a:noFill/>
          </a:ln>
          <a:effectLst>
            <a:outerShdw blurRad="142875" rotWithShape="0" algn="bl" dist="2857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13" y="0"/>
            <a:ext cx="9144000" cy="5190600"/>
          </a:xfrm>
          <a:prstGeom prst="rect">
            <a:avLst/>
          </a:prstGeom>
          <a:solidFill>
            <a:srgbClr val="2F6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729300" y="1506175"/>
            <a:ext cx="7685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8FAF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Nossa missão é garantir que, quando um médico precisar de ajuda, ele saiba exatamente onde encontrá-la. </a:t>
            </a:r>
            <a:endParaRPr sz="2800">
              <a:solidFill>
                <a:srgbClr val="F8FAF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9" name="Google Shape;119;p19" title="Identidade Visual do App Zelo (3).png"/>
          <p:cNvPicPr preferRelativeResize="0"/>
          <p:nvPr/>
        </p:nvPicPr>
        <p:blipFill rotWithShape="1">
          <a:blip r:embed="rId3">
            <a:alphaModFix/>
          </a:blip>
          <a:srcRect b="34322" l="0" r="0" t="33472"/>
          <a:stretch/>
        </p:blipFill>
        <p:spPr>
          <a:xfrm>
            <a:off x="3237238" y="3666700"/>
            <a:ext cx="2669525" cy="8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